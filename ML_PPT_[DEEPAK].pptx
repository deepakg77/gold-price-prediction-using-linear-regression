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935EE-9A99-0C1C-BF06-A6F0676A41E9}" v="88" dt="2026-04-26T06:47:36.267"/>
    <p1510:client id="{427D6EF1-9921-4FA6-ABD7-54A80AB19DBD}" v="36" dt="2026-04-26T06:01:09.630"/>
    <p1510:client id="{CCCF6539-69C2-977E-F78D-A3D9BABEEA58}" v="1" dt="2026-04-26T06:33:22.0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w/c/2998d084b8152fa5/IQA1Q3yOo9vpQLR7a4gsAZCLAU-CoeKWv1_yKgmP5CI9Q4U" TargetMode="External"/><Relationship Id="rId2" Type="http://schemas.openxmlformats.org/officeDocument/2006/relationships/hyperlink" Target="https://github.com/DeepakG77/Gold-price-prediction-using-linear-regression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drv.ms/p/c/881f3377a12d5694/IQBNpBXM6A8WSo2HwTHN4JLoAeYsarT8mt5UNc6sLVkkR1c?e=aXJDL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" TargetMode="External"/><Relationship Id="rId7" Type="http://schemas.openxmlformats.org/officeDocument/2006/relationships/hyperlink" Target="https://numpy.org/doc/" TargetMode="External"/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" TargetMode="External"/><Relationship Id="rId5" Type="http://schemas.openxmlformats.org/officeDocument/2006/relationships/hyperlink" Target="https://seaborn.pydata.org/" TargetMode="External"/><Relationship Id="rId4" Type="http://schemas.openxmlformats.org/officeDocument/2006/relationships/hyperlink" Target="https://matplotlib.org/stable/conten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 smtClean="0">
                <a:solidFill>
                  <a:srgbClr val="FF0000"/>
                </a:solidFill>
              </a:rPr>
              <a:t>GOLD PRICE PREDICTION USING LINEAR REGRESSION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356742"/>
              </p:ext>
            </p:extLst>
          </p:nvPr>
        </p:nvGraphicFramePr>
        <p:xfrm>
          <a:off x="1854679" y="3845961"/>
          <a:ext cx="8636858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0647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pPr algn="l"/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2117240070049</a:t>
                      </a:r>
                      <a:endParaRPr lang="en-US" i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 smtClean="0"/>
                        <a:t>DEEPAK</a:t>
                      </a:r>
                      <a:r>
                        <a:rPr lang="en-US" b="1" i="0" baseline="0" dirty="0" smtClean="0"/>
                        <a:t> G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 err="1"/>
                        <a:t>ll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i="0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i="0" dirty="0"/>
                        <a:t>Mrs. M. Divya</a:t>
                      </a:r>
                      <a:endParaRPr lang="en-US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4/26/2026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694" y="862642"/>
            <a:ext cx="11326483" cy="566755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Gold is one of the most valuable commodities and widely used as an investment asset. Predicting gold prices is important for investors and financial analysts.</a:t>
            </a:r>
          </a:p>
          <a:p>
            <a:r>
              <a:rPr lang="en-US" sz="2400" dirty="0"/>
              <a:t>Machine Learning helps analyze historical data and predict future trends.</a:t>
            </a:r>
          </a:p>
          <a:p>
            <a:r>
              <a:rPr lang="en-US" sz="2400" dirty="0"/>
              <a:t>In this project, </a:t>
            </a:r>
            <a:r>
              <a:rPr lang="en-US" sz="2400" b="1" dirty="0"/>
              <a:t>Linear Regression</a:t>
            </a:r>
            <a:r>
              <a:rPr lang="en-US" sz="2400" dirty="0"/>
              <a:t> is used to predict gold prices using:</a:t>
            </a:r>
          </a:p>
          <a:p>
            <a:pPr lvl="1"/>
            <a:r>
              <a:rPr lang="en-US" sz="2000" dirty="0"/>
              <a:t>Historical price data </a:t>
            </a:r>
          </a:p>
          <a:p>
            <a:pPr lvl="1"/>
            <a:r>
              <a:rPr lang="en-US" sz="2000" dirty="0"/>
              <a:t>Lag features </a:t>
            </a:r>
          </a:p>
          <a:p>
            <a:pPr lvl="1"/>
            <a:r>
              <a:rPr lang="en-US" sz="2000" dirty="0"/>
              <a:t>Rolling statistics </a:t>
            </a:r>
          </a:p>
          <a:p>
            <a:r>
              <a:rPr lang="en-US" sz="2400" dirty="0"/>
              <a:t>Linear Regression is a supervised learning algorithm used for predicting continuous </a:t>
            </a:r>
            <a:r>
              <a:rPr lang="en-US" sz="2400" dirty="0" smtClean="0"/>
              <a:t>values.</a:t>
            </a:r>
            <a:endParaRPr lang="en-US" sz="2400" dirty="0" smtClean="0">
              <a:latin typeface="Arial" panose="020B0604020202020204" pitchFamily="34" charset="0"/>
            </a:endParaRPr>
          </a:p>
          <a:p>
            <a:r>
              <a:rPr lang="en-US" altLang="en-US" sz="2400" dirty="0" smtClean="0"/>
              <a:t>Machine </a:t>
            </a:r>
            <a:r>
              <a:rPr lang="en-US" altLang="en-US" sz="2400" dirty="0"/>
              <a:t>Learning provides a </a:t>
            </a:r>
            <a:r>
              <a:rPr lang="en-US" altLang="en-US" sz="2400" b="1" dirty="0"/>
              <a:t>data-driven approach</a:t>
            </a:r>
            <a:r>
              <a:rPr lang="en-US" altLang="en-US" sz="2400" dirty="0"/>
              <a:t> for better forecasting accuracy. </a:t>
            </a:r>
            <a:endParaRPr lang="en-US" altLang="en-US" sz="2400" dirty="0" smtClean="0"/>
          </a:p>
          <a:p>
            <a:r>
              <a:rPr lang="en-US" altLang="en-US" sz="2400" dirty="0" smtClean="0"/>
              <a:t>Feature </a:t>
            </a:r>
            <a:r>
              <a:rPr lang="en-US" altLang="en-US" sz="2400" dirty="0"/>
              <a:t>engineering (lag values, rolling averages) helps capture hidden patterns in time-series data. </a:t>
            </a:r>
            <a:endParaRPr lang="en-US" altLang="en-US" sz="2400" dirty="0" smtClean="0"/>
          </a:p>
          <a:p>
            <a:r>
              <a:rPr lang="en-US" altLang="en-US" sz="2400" dirty="0" smtClean="0"/>
              <a:t>Predicting </a:t>
            </a:r>
            <a:r>
              <a:rPr lang="en-US" altLang="en-US" sz="2400" dirty="0"/>
              <a:t>gold prices can help in </a:t>
            </a:r>
            <a:r>
              <a:rPr lang="en-US" altLang="en-US" sz="2400" b="1" dirty="0"/>
              <a:t>investment planning and risk management</a:t>
            </a:r>
            <a:r>
              <a:rPr lang="en-US" altLang="en-US" sz="2400" dirty="0"/>
              <a:t>. </a:t>
            </a:r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26" y="8177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665666"/>
              </p:ext>
            </p:extLst>
          </p:nvPr>
        </p:nvGraphicFramePr>
        <p:xfrm>
          <a:off x="1854200" y="2205222"/>
          <a:ext cx="8128000" cy="201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hlinkClick r:id="rId2"/>
                        </a:rPr>
                        <a:t>github.com/DeepakG77/Gold-price-prediction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mtClean="0">
                          <a:hlinkClick r:id="rId3"/>
                        </a:rPr>
                        <a:t>word report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hlinkClick r:id="rId4"/>
                        </a:rPr>
                        <a:t>MLLAB_MINI_PPT_TEMPLATE_AI^L0DS.pptx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2" y="1009290"/>
            <a:ext cx="11430000" cy="558991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The project uses </a:t>
            </a:r>
            <a:r>
              <a:rPr lang="en-US" b="1" dirty="0"/>
              <a:t>Machine Learning (Supervised Learning)</a:t>
            </a:r>
            <a:r>
              <a:rPr lang="en-US" dirty="0"/>
              <a:t> for regression.</a:t>
            </a:r>
          </a:p>
          <a:p>
            <a:r>
              <a:rPr lang="en-US" b="1" dirty="0"/>
              <a:t>Linear Regression:</a:t>
            </a:r>
          </a:p>
          <a:p>
            <a:pPr lvl="1"/>
            <a:r>
              <a:rPr lang="en-US" dirty="0"/>
              <a:t>Models relationship between input features and output </a:t>
            </a:r>
          </a:p>
          <a:p>
            <a:pPr lvl="1"/>
            <a:r>
              <a:rPr lang="en-US" dirty="0"/>
              <a:t>Predicts continuous values (gold price) </a:t>
            </a:r>
          </a:p>
          <a:p>
            <a:r>
              <a:rPr lang="en-US" b="1" dirty="0"/>
              <a:t>Key Concepts:</a:t>
            </a:r>
          </a:p>
          <a:p>
            <a:pPr lvl="1"/>
            <a:r>
              <a:rPr lang="en-US" dirty="0"/>
              <a:t>Least Squares Method (error minimization) </a:t>
            </a:r>
          </a:p>
          <a:p>
            <a:pPr lvl="1"/>
            <a:r>
              <a:rPr lang="en-US" dirty="0"/>
              <a:t>Feature Engineering: </a:t>
            </a:r>
          </a:p>
          <a:p>
            <a:pPr lvl="2"/>
            <a:r>
              <a:rPr lang="en-US" dirty="0"/>
              <a:t>Lag values </a:t>
            </a:r>
          </a:p>
          <a:p>
            <a:pPr lvl="2"/>
            <a:r>
              <a:rPr lang="en-US" dirty="0"/>
              <a:t>Rolling averages </a:t>
            </a:r>
          </a:p>
          <a:p>
            <a:pPr lvl="2"/>
            <a:r>
              <a:rPr lang="en-US" dirty="0"/>
              <a:t>Volatility </a:t>
            </a:r>
          </a:p>
          <a:p>
            <a:r>
              <a:rPr lang="en-US" b="1" dirty="0"/>
              <a:t>Why Linear Regression?</a:t>
            </a:r>
          </a:p>
          <a:p>
            <a:pPr lvl="1"/>
            <a:r>
              <a:rPr lang="en-US" dirty="0"/>
              <a:t>Simple and interpretable </a:t>
            </a:r>
          </a:p>
          <a:p>
            <a:pPr lvl="1"/>
            <a:r>
              <a:rPr lang="en-US" dirty="0"/>
              <a:t>Efficient </a:t>
            </a:r>
          </a:p>
          <a:p>
            <a:pPr lvl="1"/>
            <a:r>
              <a:rPr lang="en-US" dirty="0"/>
              <a:t>High accuracy achieved (R² ≈ 0.95)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36" y="118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38835" y="646714"/>
            <a:ext cx="5915891" cy="32391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34200" y="1502564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Model Performance:</a:t>
            </a:r>
          </a:p>
          <a:p>
            <a:pPr lvl="1"/>
            <a:r>
              <a:rPr lang="en-IN" b="1" dirty="0"/>
              <a:t>MAPE:</a:t>
            </a:r>
            <a:r>
              <a:rPr lang="en-IN" dirty="0"/>
              <a:t> ~0.67% </a:t>
            </a:r>
          </a:p>
          <a:p>
            <a:pPr lvl="1"/>
            <a:r>
              <a:rPr lang="en-IN" b="1" dirty="0"/>
              <a:t>R² Score:</a:t>
            </a:r>
            <a:r>
              <a:rPr lang="en-IN" dirty="0"/>
              <a:t> ~0.95 </a:t>
            </a:r>
          </a:p>
          <a:p>
            <a:pPr lvl="1"/>
            <a:r>
              <a:rPr lang="en-IN" b="1" dirty="0"/>
              <a:t>MAE:</a:t>
            </a:r>
            <a:r>
              <a:rPr lang="en-IN" dirty="0"/>
              <a:t> ~$12 </a:t>
            </a:r>
          </a:p>
          <a:p>
            <a:pPr lvl="1"/>
            <a:r>
              <a:rPr lang="en-IN" b="1" dirty="0"/>
              <a:t>RMSE:</a:t>
            </a:r>
            <a:r>
              <a:rPr lang="en-IN" dirty="0"/>
              <a:t> ~$16 </a:t>
            </a:r>
          </a:p>
          <a:p>
            <a:r>
              <a:rPr lang="en-IN" b="1" dirty="0"/>
              <a:t>Observations:</a:t>
            </a:r>
          </a:p>
          <a:p>
            <a:pPr lvl="1"/>
            <a:r>
              <a:rPr lang="en-IN" dirty="0"/>
              <a:t>Very low error → high accuracy </a:t>
            </a:r>
          </a:p>
          <a:p>
            <a:pPr lvl="1"/>
            <a:r>
              <a:rPr lang="en-IN" dirty="0"/>
              <a:t>Model explains ~95% variance </a:t>
            </a:r>
          </a:p>
          <a:p>
            <a:pPr lvl="1"/>
            <a:r>
              <a:rPr lang="en-IN" dirty="0"/>
              <a:t>Predictions closely match actual values </a:t>
            </a:r>
          </a:p>
          <a:p>
            <a:r>
              <a:rPr lang="en-IN" b="1" dirty="0"/>
              <a:t>Key Features:</a:t>
            </a:r>
          </a:p>
          <a:p>
            <a:pPr lvl="1"/>
            <a:r>
              <a:rPr lang="en-IN" dirty="0"/>
              <a:t>roll_mean_7 </a:t>
            </a:r>
          </a:p>
          <a:p>
            <a:pPr lvl="1"/>
            <a:r>
              <a:rPr lang="en-IN" dirty="0"/>
              <a:t>lag_1 </a:t>
            </a:r>
          </a:p>
          <a:p>
            <a:pPr lvl="1"/>
            <a:r>
              <a:rPr lang="en-IN" dirty="0"/>
              <a:t>lag_3 </a:t>
            </a:r>
          </a:p>
          <a:p>
            <a:pPr lvl="1"/>
            <a:r>
              <a:rPr lang="en-IN" dirty="0"/>
              <a:t>lag_7</a:t>
            </a:r>
          </a:p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238835" y="3819207"/>
            <a:ext cx="5915892" cy="271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0509" y="1011838"/>
            <a:ext cx="5302982" cy="570963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6224000" y="1421344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Visualizations: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Actual vs Predicted graph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Residual plot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Feature importance chart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Scatter plot </a:t>
            </a:r>
          </a:p>
          <a:p>
            <a:r>
              <a:rPr lang="en-IN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Strong model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Minimal bias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Good generalization </a:t>
            </a:r>
          </a:p>
          <a:p>
            <a:r>
              <a:rPr lang="en-IN" b="1" dirty="0"/>
              <a:t>Future Enhancements: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LSTM for better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Include external factors: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Inflation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USD index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Oil prices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Real-time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546" y="2251495"/>
            <a:ext cx="7806907" cy="279533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sz="2400" dirty="0" smtClean="0">
                <a:latin typeface="Arial"/>
                <a:cs typeface="Arial"/>
              </a:rPr>
              <a:t>•</a:t>
            </a:r>
            <a:r>
              <a:rPr lang="en-US" sz="2400" dirty="0" smtClean="0"/>
              <a:t>Python Software Foundation, Python Documentation. Available at:</a:t>
            </a:r>
            <a:r>
              <a:rPr lang="en-US" sz="2400" dirty="0" smtClean="0">
                <a:hlinkClick r:id="rId2"/>
              </a:rPr>
              <a:t> https://docs.python.org/</a:t>
            </a:r>
            <a:endParaRPr lang="en-US" dirty="0" smtClean="0"/>
          </a:p>
          <a:p>
            <a:pPr>
              <a:buNone/>
            </a:pPr>
            <a:r>
              <a:rPr lang="en-US" sz="2400" dirty="0" smtClean="0">
                <a:latin typeface="Arial"/>
                <a:cs typeface="Arial"/>
              </a:rPr>
              <a:t>•</a:t>
            </a:r>
            <a:r>
              <a:rPr lang="en-US" sz="2400" dirty="0" smtClean="0"/>
              <a:t>Pandas Development Team, Pandas Documentation. Available at: </a:t>
            </a:r>
            <a:r>
              <a:rPr lang="en-US" sz="2400" dirty="0" smtClean="0">
                <a:hlinkClick r:id="rId3"/>
              </a:rPr>
              <a:t>https://pandas.pydata.org/docs/ </a:t>
            </a:r>
            <a:endParaRPr lang="en-IN" dirty="0" smtClean="0"/>
          </a:p>
          <a:p>
            <a:pPr>
              <a:buNone/>
            </a:pPr>
            <a:r>
              <a:rPr lang="en-US" sz="2400" smtClean="0">
                <a:latin typeface="Arial"/>
                <a:cs typeface="Arial"/>
              </a:rPr>
              <a:t>•</a:t>
            </a:r>
            <a:r>
              <a:rPr lang="en-US" sz="2400" smtClean="0"/>
              <a:t>Matplotlib Developers, Matplotlib Documentation. </a:t>
            </a:r>
            <a:r>
              <a:rPr lang="en-US" sz="2400" dirty="0" smtClean="0"/>
              <a:t>Available at: </a:t>
            </a:r>
            <a:r>
              <a:rPr lang="en-US" sz="2400" dirty="0" smtClean="0">
                <a:hlinkClick r:id="rId4"/>
              </a:rPr>
              <a:t>https://matplotlib.org/stable/contents.html</a:t>
            </a:r>
            <a:endParaRPr lang="en-IN" smtClean="0"/>
          </a:p>
          <a:p>
            <a:pPr>
              <a:buNone/>
            </a:pPr>
            <a:r>
              <a:rPr lang="en-US" sz="2400" smtClean="0">
                <a:latin typeface="Arial"/>
                <a:cs typeface="Arial"/>
              </a:rPr>
              <a:t>•</a:t>
            </a:r>
            <a:r>
              <a:rPr lang="en-US" sz="2400" smtClean="0"/>
              <a:t>Seaborn Developers, Seaborn Documentation. </a:t>
            </a:r>
            <a:r>
              <a:rPr lang="en-US" sz="2400" dirty="0" smtClean="0"/>
              <a:t>Available at: </a:t>
            </a:r>
            <a:r>
              <a:rPr lang="en-US" sz="2400" dirty="0" smtClean="0">
                <a:hlinkClick r:id="rId5"/>
              </a:rPr>
              <a:t>https://seaborn.pydata.org/</a:t>
            </a:r>
            <a:endParaRPr lang="en-IN" smtClean="0"/>
          </a:p>
          <a:p>
            <a:pPr>
              <a:buNone/>
            </a:pPr>
            <a:r>
              <a:rPr lang="en-US" sz="2400" smtClean="0">
                <a:latin typeface="Arial"/>
                <a:cs typeface="Arial"/>
              </a:rPr>
              <a:t>•</a:t>
            </a:r>
            <a:r>
              <a:rPr lang="en-US" sz="2400" smtClean="0"/>
              <a:t>Kaggle, Gold price Dataset. </a:t>
            </a:r>
            <a:r>
              <a:rPr lang="en-US" sz="2400" dirty="0" smtClean="0"/>
              <a:t>Available at: </a:t>
            </a:r>
            <a:r>
              <a:rPr lang="en-US" sz="2400" dirty="0" smtClean="0">
                <a:hlinkClick r:id="rId6"/>
              </a:rPr>
              <a:t>https://www.kaggle.com/</a:t>
            </a:r>
            <a:endParaRPr lang="en-IN" smtClean="0"/>
          </a:p>
          <a:p>
            <a:pPr>
              <a:buNone/>
            </a:pPr>
            <a:r>
              <a:rPr lang="en-US" sz="2400" smtClean="0">
                <a:latin typeface="Arial"/>
                <a:cs typeface="Arial"/>
              </a:rPr>
              <a:t>•</a:t>
            </a:r>
            <a:r>
              <a:rPr lang="en-US" sz="2400" smtClean="0"/>
              <a:t>NumPy Developers, NumPy Documentation. </a:t>
            </a:r>
            <a:r>
              <a:rPr lang="en-US" sz="2400" dirty="0" smtClean="0"/>
              <a:t>Available at</a:t>
            </a:r>
            <a:r>
              <a:rPr lang="en-US" sz="2400" dirty="0" smtClean="0">
                <a:hlinkClick r:id="rId7"/>
              </a:rPr>
              <a:t>: https://numpy.org/doc/</a:t>
            </a:r>
            <a:endParaRPr lang="en-IN" smtClean="0"/>
          </a:p>
          <a:p>
            <a:pPr marL="0" lv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452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GOLD PRICE PREDICTION USING LINEAR REGRESSION</vt:lpstr>
      <vt:lpstr>PROBLEM STATEMENT</vt:lpstr>
      <vt:lpstr>IMPLEMENTATION AND CODE</vt:lpstr>
      <vt:lpstr>THEORETICAL BACKGROUND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ARTIFICIAL INTELLIGENCE AND DATA SCIENCE ACADEMIC YEAR 2025 - 2026 SEMESTER III ARTIFICIAL INTELLIGENCE LABORATORY  MINI PROJECT REVIEW  AI-Based Interview Performance Predictor</dc:title>
  <dc:creator>SANKAR GANESH K</dc:creator>
  <cp:lastModifiedBy>DEEPAK</cp:lastModifiedBy>
  <cp:revision>51</cp:revision>
  <dcterms:created xsi:type="dcterms:W3CDTF">2025-10-18T08:57:34Z</dcterms:created>
  <dcterms:modified xsi:type="dcterms:W3CDTF">2026-04-26T15:23:40Z</dcterms:modified>
</cp:coreProperties>
</file>